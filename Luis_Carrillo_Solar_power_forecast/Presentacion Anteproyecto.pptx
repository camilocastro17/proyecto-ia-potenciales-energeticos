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9"/>
  </p:notesMasterIdLst>
  <p:sldIdLst>
    <p:sldId id="256" r:id="rId2"/>
    <p:sldId id="269" r:id="rId3"/>
    <p:sldId id="272" r:id="rId4"/>
    <p:sldId id="258" r:id="rId5"/>
    <p:sldId id="273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75" r:id="rId14"/>
    <p:sldId id="276" r:id="rId15"/>
    <p:sldId id="270" r:id="rId16"/>
    <p:sldId id="267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80150" autoAdjust="0"/>
  </p:normalViewPr>
  <p:slideViewPr>
    <p:cSldViewPr snapToGrid="0">
      <p:cViewPr varScale="1">
        <p:scale>
          <a:sx n="92" d="100"/>
          <a:sy n="92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F27A7-AE98-4464-B34A-64FC1AC7E103}" type="datetimeFigureOut">
              <a:rPr lang="es-419" smtClean="0"/>
              <a:t>29/5/2024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A1A18-78D6-40E4-A5E1-6E3F3828A51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1609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Variables climatológicas -&gt; Temperatura, Presión, humedad, dirección y magnitud del viento</a:t>
            </a:r>
          </a:p>
          <a:p>
            <a:r>
              <a:rPr lang="es-419" dirty="0"/>
              <a:t>Calidad del aire -&gt; PM2.5, PM10, CO, NO, O3, entre otras</a:t>
            </a:r>
          </a:p>
          <a:p>
            <a:r>
              <a:rPr lang="es-419" dirty="0"/>
              <a:t>Irradiancia -&gt; GHI Irradiación Horizontal Global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A1A18-78D6-40E4-A5E1-6E3F3828A519}" type="slidenum">
              <a:rPr lang="es-419" smtClean="0"/>
              <a:t>3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94324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nota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CO" sz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(STC – Standard Test </a:t>
                </a:r>
                <a:r>
                  <a:rPr lang="es-CO" sz="12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Conditions</a:t>
                </a:r>
                <a:r>
                  <a:rPr lang="es-CO" sz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) realizadas con una irradiancia de </a:t>
                </a:r>
                <a14:m>
                  <m:oMath xmlns:m="http://schemas.openxmlformats.org/officeDocument/2006/math">
                    <m:r>
                      <a:rPr lang="es-CO" sz="12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1000 </m:t>
                    </m:r>
                    <m:r>
                      <a:rPr lang="es-CO" sz="12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𝑊</m:t>
                    </m:r>
                    <m:r>
                      <a:rPr lang="es-CO" sz="12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/</m:t>
                    </m:r>
                    <m:sSup>
                      <m:sSupPr>
                        <m:ctrlPr>
                          <a:rPr lang="es-419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𝑚</m:t>
                        </m:r>
                      </m:e>
                      <m:sup>
                        <m:r>
                          <a:rPr lang="es-CO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sz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, temperatura de </a:t>
                </a:r>
                <a14:m>
                  <m:oMath xmlns:m="http://schemas.openxmlformats.org/officeDocument/2006/math">
                    <m:r>
                      <a:rPr lang="es-CO" sz="12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25 ℃</m:t>
                    </m:r>
                  </m:oMath>
                </a14:m>
                <a:r>
                  <a:rPr lang="es-CO" sz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 y masa de aire de 1.5 de espectro global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CO" sz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Tahoma" panose="020B0604030504040204" pitchFamily="34" charset="0"/>
                  </a:rPr>
                  <a:t>NREL, 47% en paneles solares de 4ta generación</a:t>
                </a:r>
                <a:endParaRPr lang="es-419" dirty="0"/>
              </a:p>
            </p:txBody>
          </p:sp>
        </mc:Choice>
        <mc:Fallback xmlns="">
          <p:sp>
            <p:nvSpPr>
              <p:cNvPr id="3" name="Marcador de nota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CO" sz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(STC – Standard Test </a:t>
                </a:r>
                <a:r>
                  <a:rPr lang="es-CO" sz="12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Conditions</a:t>
                </a:r>
                <a:r>
                  <a:rPr lang="es-CO" sz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) realizadas con una irradiancia de </a:t>
                </a:r>
                <a:r>
                  <a:rPr lang="es-CO" sz="12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1000 𝑊/𝑚</a:t>
                </a:r>
                <a:r>
                  <a:rPr lang="es-419" sz="12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^</a:t>
                </a:r>
                <a:r>
                  <a:rPr lang="es-CO" sz="12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2</a:t>
                </a:r>
                <a:r>
                  <a:rPr lang="es-CO" sz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, temperatura de </a:t>
                </a:r>
                <a:r>
                  <a:rPr lang="es-CO" sz="12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25 ℃</a:t>
                </a:r>
                <a:r>
                  <a:rPr lang="es-CO" sz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 y masa de aire de 1.5 de espectro global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CO" sz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Tahoma" panose="020B0604030504040204" pitchFamily="34" charset="0"/>
                  </a:rPr>
                  <a:t>NREL, 47% en paneles solares de 4ta generación</a:t>
                </a:r>
                <a:endParaRPr lang="es-419" dirty="0"/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A1A18-78D6-40E4-A5E1-6E3F3828A519}" type="slidenum">
              <a:rPr lang="es-419" smtClean="0"/>
              <a:t>4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89491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NREL -&gt; </a:t>
            </a:r>
            <a:r>
              <a:rPr lang="es-419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El Laboratorio Nacional de Energía Renovable es un laboratorio estadounidense que se especializa en la investigación y desarrollo de energía renovable, eficiencia </a:t>
            </a:r>
            <a:r>
              <a:rPr lang="es-419" b="0" i="0" dirty="0" err="1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energetica</a:t>
            </a:r>
            <a:r>
              <a:rPr lang="es-419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integración de sistemas de energía y transporte sostenible</a:t>
            </a:r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A1A18-78D6-40E4-A5E1-6E3F3828A519}" type="slidenum">
              <a:rPr lang="es-419" smtClean="0"/>
              <a:t>5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00075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nota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(STC – Standard Test </a:t>
                </a:r>
                <a:r>
                  <a:rPr lang="es-CO" sz="18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Conditions</a:t>
                </a:r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) realizadas con una irradiancia de </a:t>
                </a:r>
                <a14:m>
                  <m:oMath xmlns:m="http://schemas.openxmlformats.org/officeDocument/2006/math">
                    <m:r>
                      <a:rPr lang="es-CO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1000 </m:t>
                    </m:r>
                    <m:r>
                      <a:rPr lang="es-CO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𝑊</m:t>
                    </m:r>
                    <m:r>
                      <a:rPr lang="es-CO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/</m:t>
                    </m:r>
                    <m:sSup>
                      <m:sSupPr>
                        <m:ctrlPr>
                          <a:rPr lang="es-419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𝑚</m:t>
                        </m:r>
                      </m:e>
                      <m:sup>
                        <m:r>
                          <a:rPr lang="es-CO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, temperatura de </a:t>
                </a:r>
                <a14:m>
                  <m:oMath xmlns:m="http://schemas.openxmlformats.org/officeDocument/2006/math">
                    <m:r>
                      <a:rPr lang="es-CO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25 ℃</m:t>
                    </m:r>
                  </m:oMath>
                </a14:m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 y masa de aire de 1.5 de espectro global</a:t>
                </a:r>
              </a:p>
              <a:p>
                <a:endParaRPr lang="es-CO" sz="1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Tahoma" panose="020B0604030504040204" pitchFamily="34" charset="0"/>
                </a:endParaRPr>
              </a:p>
              <a:p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Tahoma" panose="020B0604030504040204" pitchFamily="34" charset="0"/>
                  </a:rPr>
                  <a:t>Q, punto de operación del panel</a:t>
                </a:r>
              </a:p>
              <a:p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Tahoma" panose="020B0604030504040204" pitchFamily="34" charset="0"/>
                  </a:rPr>
                  <a:t>Como se calcula la eficiencia que nos entrega el fabricante?</a:t>
                </a:r>
              </a:p>
              <a:p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Tahoma" panose="020B0604030504040204" pitchFamily="34" charset="0"/>
                  </a:rPr>
                  <a:t>Masa de aire, cómo la atmosfera afecta la calidad de la luz solar que llega a la superficie</a:t>
                </a:r>
              </a:p>
              <a:p>
                <a:endParaRPr lang="es-CO" sz="1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Tahoma" panose="020B0604030504040204" pitchFamily="34" charset="0"/>
                </a:endParaRPr>
              </a:p>
              <a:p>
                <a:r>
                  <a:rPr lang="es-419" dirty="0"/>
                  <a:t>Según </a:t>
                </a:r>
                <a:r>
                  <a:rPr lang="es-419" b="0" i="0" dirty="0">
                    <a:solidFill>
                      <a:srgbClr val="4D5156"/>
                    </a:solidFill>
                    <a:effectLst/>
                    <a:highlight>
                      <a:srgbClr val="FFFFFF"/>
                    </a:highlight>
                    <a:latin typeface="arial" panose="020B0604020202020204" pitchFamily="34" charset="0"/>
                  </a:rPr>
                  <a:t>el Laboratorio Nacional de Energía Renovable (</a:t>
                </a:r>
                <a:r>
                  <a:rPr lang="es-419" dirty="0"/>
                  <a:t>NREL</a:t>
                </a:r>
                <a:r>
                  <a:rPr lang="es-419" b="0" i="0" dirty="0">
                    <a:solidFill>
                      <a:srgbClr val="4D5156"/>
                    </a:solidFill>
                    <a:effectLst/>
                    <a:highlight>
                      <a:srgbClr val="FFFFFF"/>
                    </a:highlight>
                    <a:latin typeface="arial" panose="020B0604020202020204" pitchFamily="34" charset="0"/>
                  </a:rPr>
                  <a:t>) la eficiencia máxima lograda es de 47% en paneles de 4ta generación. Es igualmente importante mencionar que en la actualidad se utiliza mayormente paneles de primera generación mono poli y multi cristalinos de silicio </a:t>
                </a:r>
                <a:endParaRPr lang="es-419" dirty="0"/>
              </a:p>
            </p:txBody>
          </p:sp>
        </mc:Choice>
        <mc:Fallback xmlns="">
          <p:sp>
            <p:nvSpPr>
              <p:cNvPr id="3" name="Marcador de nota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(STC – Standard Test </a:t>
                </a:r>
                <a:r>
                  <a:rPr lang="es-CO" sz="18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Conditions</a:t>
                </a:r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) realizadas con una irradiancia de </a:t>
                </a:r>
                <a:r>
                  <a:rPr lang="es-CO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1000 𝑊/𝑚</a:t>
                </a:r>
                <a:r>
                  <a:rPr lang="es-419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^</a:t>
                </a:r>
                <a:r>
                  <a:rPr lang="es-CO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2</a:t>
                </a:r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, temperatura de </a:t>
                </a:r>
                <a:r>
                  <a:rPr lang="es-CO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25 ℃</a:t>
                </a:r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 y masa de aire de 1.5 de espectro global</a:t>
                </a:r>
              </a:p>
              <a:p>
                <a:endParaRPr lang="es-CO" sz="1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Tahoma" panose="020B0604030504040204" pitchFamily="34" charset="0"/>
                </a:endParaRPr>
              </a:p>
              <a:p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Tahoma" panose="020B0604030504040204" pitchFamily="34" charset="0"/>
                  </a:rPr>
                  <a:t>Q, punto de operación del panel</a:t>
                </a:r>
              </a:p>
              <a:p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Tahoma" panose="020B0604030504040204" pitchFamily="34" charset="0"/>
                  </a:rPr>
                  <a:t>Como se calcula la eficiencia que nos entrega el fabricante?</a:t>
                </a:r>
              </a:p>
              <a:p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Tahoma" panose="020B0604030504040204" pitchFamily="34" charset="0"/>
                  </a:rPr>
                  <a:t>Masa de aire, cómo la atmosfera afecta la calidad de la luz solar que llega a la superficie</a:t>
                </a:r>
              </a:p>
              <a:p>
                <a:endParaRPr lang="es-CO" sz="1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Tahoma" panose="020B0604030504040204" pitchFamily="34" charset="0"/>
                </a:endParaRPr>
              </a:p>
              <a:p>
                <a:r>
                  <a:rPr lang="es-419" dirty="0"/>
                  <a:t>Según </a:t>
                </a:r>
                <a:r>
                  <a:rPr lang="es-419" b="0" i="0" dirty="0">
                    <a:solidFill>
                      <a:srgbClr val="4D5156"/>
                    </a:solidFill>
                    <a:effectLst/>
                    <a:highlight>
                      <a:srgbClr val="FFFFFF"/>
                    </a:highlight>
                    <a:latin typeface="arial" panose="020B0604020202020204" pitchFamily="34" charset="0"/>
                  </a:rPr>
                  <a:t>el Laboratorio Nacional de Energía Renovable (</a:t>
                </a:r>
                <a:r>
                  <a:rPr lang="es-419" dirty="0"/>
                  <a:t>NREL</a:t>
                </a:r>
                <a:r>
                  <a:rPr lang="es-419" b="0" i="0" dirty="0">
                    <a:solidFill>
                      <a:srgbClr val="4D5156"/>
                    </a:solidFill>
                    <a:effectLst/>
                    <a:highlight>
                      <a:srgbClr val="FFFFFF"/>
                    </a:highlight>
                    <a:latin typeface="arial" panose="020B0604020202020204" pitchFamily="34" charset="0"/>
                  </a:rPr>
                  <a:t>) la eficiencia máxima lograda es de 47% en paneles de 4ta generación. Es igualmente importante mencionar que en la actualidad se utiliza mayormente paneles de primera generación mono poli y multi cristalinos de silicio </a:t>
                </a:r>
                <a:endParaRPr lang="es-419" dirty="0"/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A1A18-78D6-40E4-A5E1-6E3F3828A519}" type="slidenum">
              <a:rPr lang="es-419" smtClean="0"/>
              <a:t>6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67934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LSTM Long Short </a:t>
            </a:r>
            <a:r>
              <a:rPr lang="es-ES" dirty="0" err="1"/>
              <a:t>Term</a:t>
            </a:r>
            <a:r>
              <a:rPr lang="es-ES" dirty="0"/>
              <a:t> </a:t>
            </a:r>
            <a:r>
              <a:rPr lang="es-ES" dirty="0" err="1"/>
              <a:t>Memory</a:t>
            </a:r>
            <a:r>
              <a:rPr lang="es-ES" dirty="0"/>
              <a:t> base </a:t>
            </a:r>
            <a:r>
              <a:rPr lang="es-ES" dirty="0" err="1"/>
              <a:t>network</a:t>
            </a:r>
            <a:r>
              <a:rPr lang="es-ES" dirty="0"/>
              <a:t>, es un tipo de red neuronal recurrente que ayuda a memorizar las dependencias a largo plazo de las series temporales en los datos.</a:t>
            </a:r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A1A18-78D6-40E4-A5E1-6E3F3828A519}" type="slidenum">
              <a:rPr lang="es-419" smtClean="0"/>
              <a:t>7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16331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Ahora, cómo sistematizamos el problema?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A1A18-78D6-40E4-A5E1-6E3F3828A519}" type="slidenum">
              <a:rPr lang="es-419" smtClean="0"/>
              <a:t>8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89989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ahoma" panose="020B0604030504040204" pitchFamily="34" charset="0"/>
            </a:endParaRPr>
          </a:p>
          <a:p>
            <a:r>
              <a:rPr lang="es-419" sz="1800" dirty="0"/>
              <a:t>Variables climatológicas -&gt; Temperatura, Presión, humedad, dirección y magnitud del viento</a:t>
            </a:r>
          </a:p>
          <a:p>
            <a:r>
              <a:rPr lang="es-419" sz="1800" dirty="0"/>
              <a:t>Calidad del aire -&gt; PM2.5, PM10, CO, NO, O3, entre otras</a:t>
            </a:r>
          </a:p>
          <a:p>
            <a:r>
              <a:rPr lang="es-419" sz="1800" dirty="0"/>
              <a:t>Irradiancia -&gt; GHI Irradiación Horizontal Global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A1A18-78D6-40E4-A5E1-6E3F3828A519}" type="slidenum">
              <a:rPr lang="es-419" smtClean="0"/>
              <a:t>9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91238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 comprender el impacto que pueden tener las variables climatológicas y de calidad del aire en la eficiencia de los paneles solares, la investigación puede ayudar a determinar los mejores lugares para instalar granjas solares.</a:t>
            </a:r>
          </a:p>
          <a:p>
            <a:pPr marL="342900" indent="-342900">
              <a:buAutoNum type="arabicPeriod"/>
            </a:pP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La investigación busca comprender por qué algunas granjas solares no funcionan tan bien como se esperaba, lo cual nos conduciría a mejorar el diseño y la operación, así como identificar si alguna de estas variables está afectando la generación esperada.</a:t>
            </a:r>
          </a:p>
          <a:p>
            <a:pPr marL="342900" indent="-342900">
              <a:buAutoNum type="arabicPeriod"/>
            </a:pP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La investigación puede generar nuevos empleos, puede hacer la industria solar más eficiente y sostenible, así como contribuir a la lucha del cambio climático y mejorar la calidad del aire, en las zonas donde se instalen las granjas.</a:t>
            </a:r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A1A18-78D6-40E4-A5E1-6E3F3828A519}" type="slidenum">
              <a:rPr lang="es-419" smtClean="0"/>
              <a:t>11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24305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b="0" dirty="0"/>
              <a:t>Generación de nuevo conocimiento -Nuevos desarrollos tecnológicos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b="0" dirty="0"/>
              <a:t>Dirigidos a la apropiación social del conocimiento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b="0" dirty="0"/>
              <a:t>Conducentes al fortalecimiento de la capacidad científica nacional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A1A18-78D6-40E4-A5E1-6E3F3828A519}" type="slidenum">
              <a:rPr lang="es-419" smtClean="0"/>
              <a:t>16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61306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A1A18-78D6-40E4-A5E1-6E3F3828A519}" type="slidenum">
              <a:rPr lang="es-419" smtClean="0"/>
              <a:t>17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89716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42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58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780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91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217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27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14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817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48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198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9228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88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316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387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40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61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Photovoltaic Array | Solar Panel | Solar Farms | Solar Irradiance">
            <a:extLst>
              <a:ext uri="{FF2B5EF4-FFF2-40B4-BE49-F238E27FC236}">
                <a16:creationId xmlns:a16="http://schemas.microsoft.com/office/drawing/2014/main" id="{9724DA91-ABB5-D8F6-C9CC-B935948E3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55" y="4617228"/>
            <a:ext cx="2897530" cy="21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49205" y="338120"/>
            <a:ext cx="10274299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Aft>
                <a:spcPct val="0"/>
              </a:spcAft>
            </a:pPr>
            <a:r>
              <a:rPr kumimoji="0" lang="es-CO" altLang="es-E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MAESTRÍA EN CIENCIAS DE LA INFORMACIÓN Y</a:t>
            </a:r>
            <a:r>
              <a:rPr kumimoji="0" lang="es-CO" altLang="es-ES" sz="25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CO" altLang="es-E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LAS COMUNICACIONES</a:t>
            </a:r>
            <a:br>
              <a:rPr kumimoji="0" lang="es-CO" altLang="es-E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kumimoji="0" lang="es-CO" altLang="es-E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CO" sz="2500" b="1" dirty="0"/>
              <a:t>Universidad Distrital Francisco José De Caldas</a:t>
            </a:r>
            <a:br>
              <a:rPr lang="es-CO" sz="2500" b="1" dirty="0"/>
            </a:br>
            <a:r>
              <a:rPr lang="es-ES" sz="2500" dirty="0"/>
              <a:t>Seminario de Investigación</a:t>
            </a:r>
            <a:br>
              <a:rPr lang="es-ES" sz="2500" dirty="0"/>
            </a:br>
            <a:br>
              <a:rPr lang="es-ES" sz="2500" dirty="0"/>
            </a:br>
            <a:endParaRPr kumimoji="0" lang="es-CO" altLang="es-E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96728" y="2917026"/>
            <a:ext cx="8579252" cy="3602854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s-419" sz="2000" dirty="0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Modelo para evaluar el impacto que tienen las variables climatológicas y de calidad del aire, en la eficiencia de los paneles solares</a:t>
            </a:r>
          </a:p>
          <a:p>
            <a:pPr algn="ctr">
              <a:lnSpc>
                <a:spcPct val="150000"/>
              </a:lnSpc>
            </a:pPr>
            <a:endParaRPr lang="es-419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ahoma" panose="020B0604030504040204" pitchFamily="34" charset="0"/>
            </a:endParaRPr>
          </a:p>
          <a:p>
            <a:pPr algn="ctr"/>
            <a:r>
              <a:rPr lang="es-ES" sz="2000" dirty="0"/>
              <a:t>Investigador. Luis Carrillo Mejía</a:t>
            </a:r>
          </a:p>
          <a:p>
            <a:pPr algn="ctr"/>
            <a:r>
              <a:rPr lang="es-ES" sz="2000" dirty="0"/>
              <a:t>Director. Elvis Eduardo Gaona García, PhD</a:t>
            </a:r>
          </a:p>
          <a:p>
            <a:pPr algn="ctr"/>
            <a:r>
              <a:rPr lang="es-ES" sz="2000" dirty="0"/>
              <a:t>Codirector. Johann Alexander Mora, PhD</a:t>
            </a:r>
          </a:p>
        </p:txBody>
      </p:sp>
    </p:spTree>
    <p:extLst>
      <p:ext uri="{BB962C8B-B14F-4D97-AF65-F5344CB8AC3E}">
        <p14:creationId xmlns:p14="http://schemas.microsoft.com/office/powerpoint/2010/main" val="3790815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cap="none" dirty="0"/>
              <a:t>AGENDA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91943" y="2238872"/>
            <a:ext cx="8596668" cy="2997201"/>
          </a:xfrm>
        </p:spPr>
        <p:txBody>
          <a:bodyPr/>
          <a:lstStyle/>
          <a:p>
            <a:r>
              <a:rPr lang="es-ES" sz="2400" dirty="0"/>
              <a:t>Problema de investigación</a:t>
            </a:r>
          </a:p>
          <a:p>
            <a:r>
              <a:rPr lang="es-ES" sz="2400" dirty="0"/>
              <a:t>Objetivos-hipótesis</a:t>
            </a:r>
          </a:p>
          <a:p>
            <a:r>
              <a:rPr lang="es-ES" sz="2400" dirty="0"/>
              <a:t>Justificación </a:t>
            </a:r>
          </a:p>
          <a:p>
            <a:r>
              <a:rPr lang="es-ES" sz="2400" dirty="0"/>
              <a:t>Metodología </a:t>
            </a:r>
          </a:p>
          <a:p>
            <a:r>
              <a:rPr lang="es-ES" sz="2400" dirty="0"/>
              <a:t>Resultados</a:t>
            </a:r>
          </a:p>
          <a:p>
            <a:r>
              <a:rPr lang="es-ES" sz="2400" dirty="0"/>
              <a:t>Cronograma 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922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EA03568A-67D5-3223-5358-E6876520AA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58" t="5547" r="10637" b="5992"/>
          <a:stretch/>
        </p:blipFill>
        <p:spPr>
          <a:xfrm>
            <a:off x="3994741" y="1510377"/>
            <a:ext cx="3746377" cy="50333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EFD4D8D-D1CB-F241-C130-2EAC95658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484" y="4270880"/>
            <a:ext cx="719710" cy="49509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9103D87-733D-A67D-1F9F-CBB7DE9B4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679" y="5342243"/>
            <a:ext cx="837320" cy="1008435"/>
          </a:xfrm>
          <a:prstGeom prst="rect">
            <a:avLst/>
          </a:prstGeom>
        </p:spPr>
      </p:pic>
      <p:pic>
        <p:nvPicPr>
          <p:cNvPr id="13" name="Picture 2" descr="Anime Dust Spin 1 Effect | FootageCrate - Free FX Archives">
            <a:extLst>
              <a:ext uri="{FF2B5EF4-FFF2-40B4-BE49-F238E27FC236}">
                <a16:creationId xmlns:a16="http://schemas.microsoft.com/office/drawing/2014/main" id="{F4EDB000-4675-0426-B1EC-69C9A3ACE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516" y="1414201"/>
            <a:ext cx="1856557" cy="104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umidity - Free weather icons">
            <a:extLst>
              <a:ext uri="{FF2B5EF4-FFF2-40B4-BE49-F238E27FC236}">
                <a16:creationId xmlns:a16="http://schemas.microsoft.com/office/drawing/2014/main" id="{D69F5B50-32E4-9220-28D6-C6657C085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161" y="2907955"/>
            <a:ext cx="1042090" cy="104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C7C8701-3840-BDCF-7362-2EF60EE71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219" y="2829345"/>
            <a:ext cx="719711" cy="49509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256F292-B725-D64A-0B9B-2312038D4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029" y="5170698"/>
            <a:ext cx="829368" cy="57053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28A4399-0B69-C0E5-5659-C4FE3DCF7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414" y="3580321"/>
            <a:ext cx="704112" cy="484367"/>
          </a:xfrm>
          <a:prstGeom prst="rect">
            <a:avLst/>
          </a:prstGeom>
        </p:spPr>
      </p:pic>
      <p:pic>
        <p:nvPicPr>
          <p:cNvPr id="1032" name="Picture 8" descr="Particulate Matter (PM) Basics | US EPA">
            <a:extLst>
              <a:ext uri="{FF2B5EF4-FFF2-40B4-BE49-F238E27FC236}">
                <a16:creationId xmlns:a16="http://schemas.microsoft.com/office/drawing/2014/main" id="{E2844825-AB87-4ACA-F403-F40350025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042" y="1086809"/>
            <a:ext cx="1149178" cy="80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artoon Air Pollution Images - Free Download on Freepik">
            <a:extLst>
              <a:ext uri="{FF2B5EF4-FFF2-40B4-BE49-F238E27FC236}">
                <a16:creationId xmlns:a16="http://schemas.microsoft.com/office/drawing/2014/main" id="{95003E67-E0B0-6CD7-8D9C-5C027713D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357" y="222971"/>
            <a:ext cx="1611374" cy="133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Sun Cartoon Images – Browse 554,023 Stock Photos, Vectors ...">
            <a:extLst>
              <a:ext uri="{FF2B5EF4-FFF2-40B4-BE49-F238E27FC236}">
                <a16:creationId xmlns:a16="http://schemas.microsoft.com/office/drawing/2014/main" id="{9C6C9C47-ADC8-742A-8415-DC533323B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965" y="203109"/>
            <a:ext cx="2172551" cy="210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2,574 Strong Wind Cartoon Images, Stock Photos, 3D objects, &amp; Vectors |  Shutterstock">
            <a:extLst>
              <a:ext uri="{FF2B5EF4-FFF2-40B4-BE49-F238E27FC236}">
                <a16:creationId xmlns:a16="http://schemas.microsoft.com/office/drawing/2014/main" id="{7AFE7A5F-84EF-BDD0-E462-042B92A072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6"/>
          <a:stretch/>
        </p:blipFill>
        <p:spPr bwMode="auto">
          <a:xfrm>
            <a:off x="8133373" y="4518428"/>
            <a:ext cx="1293461" cy="890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View full size Animation Bouncy Question Mark Clip Arts - Cartoon - Png  Download and download transparent clipart for free… | Clip art, Cartoons  png, Emoji pictures">
            <a:extLst>
              <a:ext uri="{FF2B5EF4-FFF2-40B4-BE49-F238E27FC236}">
                <a16:creationId xmlns:a16="http://schemas.microsoft.com/office/drawing/2014/main" id="{23CAAE1B-2668-6D63-2DD8-7951BD6BC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933" y="3616999"/>
            <a:ext cx="319501" cy="73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C3F0F95-7C5B-405E-264D-5FFF0826C0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3373" y="1964138"/>
            <a:ext cx="1633215" cy="156723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F7ACC4B-35B6-55F2-8219-17DEFB5F4F2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2160" y="4378973"/>
            <a:ext cx="2688046" cy="116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7159" y="127992"/>
            <a:ext cx="10131425" cy="1456267"/>
          </a:xfrm>
        </p:spPr>
        <p:txBody>
          <a:bodyPr/>
          <a:lstStyle/>
          <a:p>
            <a:pPr algn="ctr"/>
            <a:r>
              <a:rPr lang="es-ES" dirty="0"/>
              <a:t>Problema de investigación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77897B4-67B7-311D-A9B4-C47A9838C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986" y="856125"/>
            <a:ext cx="5983770" cy="570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065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81893-9E79-700D-AFB2-7DA1FBFB7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162" y="400141"/>
            <a:ext cx="8596668" cy="837235"/>
          </a:xfrm>
        </p:spPr>
        <p:txBody>
          <a:bodyPr/>
          <a:lstStyle/>
          <a:p>
            <a:pPr algn="ctr"/>
            <a:r>
              <a:rPr lang="es-ES" dirty="0"/>
              <a:t>Problema de investigación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CDF472-D7FA-DCE2-4C01-699228B88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402" y="1399421"/>
            <a:ext cx="5459933" cy="522048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2820827-4D29-32F4-92FF-CA749FBD9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66" y="1399421"/>
            <a:ext cx="10484600" cy="522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7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26F70BE-13B0-BFF7-FCA8-C64638F39D3D}"/>
                  </a:ext>
                </a:extLst>
              </p:cNvPr>
              <p:cNvSpPr txBox="1"/>
              <p:nvPr/>
            </p:nvSpPr>
            <p:spPr>
              <a:xfrm>
                <a:off x="2336317" y="1800657"/>
                <a:ext cx="6105644" cy="1034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3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30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419" sz="30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s-419" sz="300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sz="3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sz="3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3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419" sz="30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419" sz="3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3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419" sz="3000" i="1">
                                  <a:latin typeface="Cambria Math" panose="02040503050406030204" pitchFamily="18" charset="0"/>
                                </a:rPr>
                                <m:t>𝑖𝑛𝑐</m:t>
                              </m:r>
                            </m:sub>
                          </m:sSub>
                        </m:den>
                      </m:f>
                      <m:r>
                        <a:rPr lang="es-419" sz="300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sz="3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sz="3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3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419" sz="3000" i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es-419" sz="3000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419" sz="3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3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419" sz="3000" i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419" sz="3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3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s-419" sz="3000" i="1">
                                  <a:latin typeface="Cambria Math" panose="02040503050406030204" pitchFamily="18" charset="0"/>
                                </a:rPr>
                                <m:t>𝑖𝑛𝑐</m:t>
                              </m:r>
                            </m:sub>
                          </m:sSub>
                          <m:r>
                            <a:rPr lang="es-419" sz="3000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419" sz="3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3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419" sz="3000" i="1">
                                  <a:latin typeface="Cambria Math" panose="02040503050406030204" pitchFamily="18" charset="0"/>
                                </a:rPr>
                                <m:t>𝑎𝑐𝑡𝑖𝑣𝑒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419" sz="3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26F70BE-13B0-BFF7-FCA8-C64638F39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317" y="1800657"/>
                <a:ext cx="6105644" cy="10347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8A966272-14CF-5276-4BD5-A5D490C5833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11" b="9498"/>
          <a:stretch/>
        </p:blipFill>
        <p:spPr bwMode="auto">
          <a:xfrm>
            <a:off x="1782843" y="3103320"/>
            <a:ext cx="7212592" cy="265816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8785D88-4FBB-1095-0D85-418F2813F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805" y="695466"/>
            <a:ext cx="8596668" cy="837235"/>
          </a:xfrm>
        </p:spPr>
        <p:txBody>
          <a:bodyPr/>
          <a:lstStyle/>
          <a:p>
            <a:pPr algn="ctr"/>
            <a:r>
              <a:rPr lang="es-ES" dirty="0"/>
              <a:t>Problema de investigación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6DE6084-DB24-D530-1D57-D83EBB34BB9E}"/>
                  </a:ext>
                </a:extLst>
              </p:cNvPr>
              <p:cNvSpPr txBox="1"/>
              <p:nvPr/>
            </p:nvSpPr>
            <p:spPr>
              <a:xfrm>
                <a:off x="616509" y="5934670"/>
                <a:ext cx="610564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(STC – Standard Test </a:t>
                </a:r>
                <a:r>
                  <a:rPr lang="es-CO" sz="18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Conditions</a:t>
                </a:r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) realizadas con una irradiancia de </a:t>
                </a:r>
                <a14:m>
                  <m:oMath xmlns:m="http://schemas.openxmlformats.org/officeDocument/2006/math">
                    <m:r>
                      <a:rPr lang="es-CO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1000 </m:t>
                    </m:r>
                    <m:r>
                      <a:rPr lang="es-CO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𝑊</m:t>
                    </m:r>
                    <m:r>
                      <a:rPr lang="es-CO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/</m:t>
                    </m:r>
                    <m:sSup>
                      <m:sSupPr>
                        <m:ctrlPr>
                          <a:rPr lang="es-419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𝑚</m:t>
                        </m:r>
                      </m:e>
                      <m:sup>
                        <m:r>
                          <a:rPr lang="es-CO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ahom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, temperatura de </a:t>
                </a:r>
                <a14:m>
                  <m:oMath xmlns:m="http://schemas.openxmlformats.org/officeDocument/2006/math">
                    <m:r>
                      <a:rPr lang="es-CO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ahoma" panose="020B0604030504040204" pitchFamily="34" charset="0"/>
                      </a:rPr>
                      <m:t>25 ℃</m:t>
                    </m:r>
                  </m:oMath>
                </a14:m>
                <a:r>
                  <a:rPr lang="es-CO" sz="1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ahoma" panose="020B0604030504040204" pitchFamily="34" charset="0"/>
                  </a:rPr>
                  <a:t> y masa de aire de 1.5</a:t>
                </a:r>
                <a:endParaRPr lang="es-419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6DE6084-DB24-D530-1D57-D83EBB34B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09" y="5934670"/>
                <a:ext cx="6105644" cy="923330"/>
              </a:xfrm>
              <a:prstGeom prst="rect">
                <a:avLst/>
              </a:prstGeom>
              <a:blipFill>
                <a:blip r:embed="rId5"/>
                <a:stretch>
                  <a:fillRect l="-798" t="-3974" b="-9934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385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 General</a:t>
            </a:r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39677"/>
              </p:ext>
            </p:extLst>
          </p:nvPr>
        </p:nvGraphicFramePr>
        <p:xfrm>
          <a:off x="698500" y="2039818"/>
          <a:ext cx="10794999" cy="3803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1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5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772">
                <a:tc>
                  <a:txBody>
                    <a:bodyPr/>
                    <a:lstStyle/>
                    <a:p>
                      <a:r>
                        <a:rPr lang="es-ES" sz="1500" dirty="0"/>
                        <a:t>PREGUNTA DE INVESTIGACIÓN</a:t>
                      </a:r>
                      <a:r>
                        <a:rPr lang="es-ES" sz="1500" baseline="0" dirty="0"/>
                        <a:t> 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OBJETIVO</a:t>
                      </a:r>
                      <a:r>
                        <a:rPr lang="es-ES" sz="1500" baseline="0" dirty="0"/>
                        <a:t> GENERAL 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HIPÓTESIS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8466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419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ahoma" panose="020B0604030504040204" pitchFamily="34" charset="0"/>
                        </a:rPr>
                        <a:t>¿Cómo evaluar el impacto de las variables climatológicas y de calidad del aire en la eficiencia de los paneles solares?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8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ahoma" panose="020B0604030504040204" pitchFamily="34" charset="0"/>
                        </a:rPr>
                        <a:t>Diseñar un modelo para evaluar el impacto que tienen las variables climatológicas y de calidad del aire, en la eficiencia de los paneles solares.</a:t>
                      </a: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cs typeface="Tahoma" panose="020B0604030504040204" pitchFamily="34" charset="0"/>
                      </a:endParaRPr>
                    </a:p>
                    <a:p>
                      <a:pPr algn="just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Tahoma" panose="020B0604030504040204" pitchFamily="34" charset="0"/>
                        </a:rPr>
                        <a:t>Al apoyarnos en las tecnologías de la información para obtener y preprocesar datos históricos de variables climatológicas, de calidad del aire e irradiancia, se logrará construir un modelo LSTM que ayude a evaluar el impacto que dichas variables tienen en la eficiencia de los paneles solares.</a:t>
                      </a:r>
                    </a:p>
                    <a:p>
                      <a:pPr algn="just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240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 Específicos</a:t>
            </a:r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90747"/>
              </p:ext>
            </p:extLst>
          </p:nvPr>
        </p:nvGraphicFramePr>
        <p:xfrm>
          <a:off x="908682" y="2145918"/>
          <a:ext cx="10374636" cy="3222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2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2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323"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SUBPREGUNTAS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OBJETIVO</a:t>
                      </a:r>
                      <a:r>
                        <a:rPr lang="es-ES" sz="1500" baseline="0" dirty="0"/>
                        <a:t> ESPECIFICO 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088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5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Tahoma" panose="020B0604030504040204" pitchFamily="34" charset="0"/>
                        </a:rPr>
                        <a:t>¿Cómo debería ser la descripción funcional del modelo de evaluación y visualización, basado en variables climatológicas, calidad del aire e irradiancia?</a:t>
                      </a:r>
                      <a:endParaRPr lang="es-ES" sz="15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Tahoma" panose="020B0604030504040204" pitchFamily="34" charset="0"/>
                        </a:rPr>
                        <a:t>Establecer la estructura del modelo de evaluación de la eficiencia de los paneles solares, basado en variables climatológicas, de calidad del aire e irradiancia</a:t>
                      </a:r>
                      <a:endParaRPr lang="es-ES" sz="15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417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5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ahoma" panose="020B0604030504040204" pitchFamily="34" charset="0"/>
                        </a:rPr>
                        <a:t>¿Cómo debería ser la descripción estructural del modelo de evaluación y visualización basado en variables climatológicas, calidad del aire e irradiancia?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Tahoma" panose="020B0604030504040204" pitchFamily="34" charset="0"/>
                        </a:rPr>
                        <a:t>Determinar la descripción funcional del modelo de evaluación de la eficiencia de los paneles solares, basado en variables climatológicas, de calidad del aire e irradiancia</a:t>
                      </a:r>
                      <a:endParaRPr lang="es-ES" sz="15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35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5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ahoma" panose="020B0604030504040204" pitchFamily="34" charset="0"/>
                        </a:rPr>
                        <a:t>¿Cómo se puede validar, que el modelo propuesto satisface la predicción de la eficiencia, a partir de los datos observados y los datos predichos?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Tahoma" panose="020B0604030504040204" pitchFamily="34" charset="0"/>
                        </a:rPr>
                        <a:t>Validar el modelo propuesto, mediante la comparación de datos observados versus el resultado de la predicción</a:t>
                      </a:r>
                      <a:endParaRPr lang="es-ES" sz="15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828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JUSTIFICACIÓN (teórica)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1303" y="1708150"/>
            <a:ext cx="8762699" cy="1498600"/>
          </a:xfrm>
        </p:spPr>
        <p:txBody>
          <a:bodyPr/>
          <a:lstStyle/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El objetivo principal, es ampliar el conocimiento actual sobre este tema, al determinar cómo las variables climatológicas y de la calidad del aire afectan la eficiencia de los paneles solares. 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Picture 3" descr="Photovoltaic Array | Solar Panel | Solar Farms | Solar Irradiance">
            <a:extLst>
              <a:ext uri="{FF2B5EF4-FFF2-40B4-BE49-F238E27FC236}">
                <a16:creationId xmlns:a16="http://schemas.microsoft.com/office/drawing/2014/main" id="{0D96E3FD-4722-7CE4-32EB-6094FA5C7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779" y="3595626"/>
            <a:ext cx="3614221" cy="270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228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JUSTIFICACIÓN (metodología)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5BAB349-B6D8-098B-869A-4345302B8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5557"/>
            <a:ext cx="8762699" cy="1498600"/>
          </a:xfrm>
        </p:spPr>
        <p:txBody>
          <a:bodyPr/>
          <a:lstStyle/>
          <a:p>
            <a:pPr marL="0" indent="0" algn="just">
              <a:buNone/>
            </a:pPr>
            <a:r>
              <a:rPr lang="es-419" dirty="0"/>
              <a:t>El resultado de la investigación será un software que implemente un modelo matemático que ayudará en futuras investigaciones a determinar si un lugar determinado podría o no ser apto con respecto a otros para instalar cierta capacidad de generación solar.</a:t>
            </a:r>
          </a:p>
        </p:txBody>
      </p:sp>
      <p:pic>
        <p:nvPicPr>
          <p:cNvPr id="10242" name="Picture 2" descr="Set of colored map pointers with world Royalty Free Vector">
            <a:extLst>
              <a:ext uri="{FF2B5EF4-FFF2-40B4-BE49-F238E27FC236}">
                <a16:creationId xmlns:a16="http://schemas.microsoft.com/office/drawing/2014/main" id="{87A4E27F-D0BC-1F7A-3C66-A41FC7DDF2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0" t="12071" r="3524" b="21622"/>
          <a:stretch/>
        </p:blipFill>
        <p:spPr bwMode="auto">
          <a:xfrm>
            <a:off x="1940010" y="2984157"/>
            <a:ext cx="6247027" cy="356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598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JUSTIFICACIÓN (</a:t>
            </a:r>
            <a:r>
              <a:rPr lang="es-ES" cap="none" dirty="0"/>
              <a:t>PRÁCTICA</a:t>
            </a:r>
            <a:r>
              <a:rPr lang="es-ES" dirty="0"/>
              <a:t>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92850" y="2531121"/>
            <a:ext cx="7786170" cy="2918750"/>
          </a:xfrm>
        </p:spPr>
        <p:txBody>
          <a:bodyPr/>
          <a:lstStyle/>
          <a:p>
            <a:r>
              <a:rPr lang="es-419" dirty="0"/>
              <a:t>Optimización de la ubicación de granjas solares</a:t>
            </a:r>
          </a:p>
          <a:p>
            <a:endParaRPr lang="es-419" dirty="0"/>
          </a:p>
          <a:p>
            <a:r>
              <a:rPr lang="es-419" dirty="0"/>
              <a:t>Compresión de una baja eficiencia de instalaciones existentes</a:t>
            </a:r>
          </a:p>
          <a:p>
            <a:endParaRPr lang="es-419" dirty="0"/>
          </a:p>
          <a:p>
            <a:r>
              <a:rPr lang="es-ES" dirty="0"/>
              <a:t>Beneficios económicos y sociales</a:t>
            </a:r>
          </a:p>
        </p:txBody>
      </p:sp>
    </p:spTree>
    <p:extLst>
      <p:ext uri="{BB962C8B-B14F-4D97-AF65-F5344CB8AC3E}">
        <p14:creationId xmlns:p14="http://schemas.microsoft.com/office/powerpoint/2010/main" val="49388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3243" y="262359"/>
            <a:ext cx="8596668" cy="1320800"/>
          </a:xfrm>
        </p:spPr>
        <p:txBody>
          <a:bodyPr/>
          <a:lstStyle/>
          <a:p>
            <a:r>
              <a:rPr lang="es-ES" dirty="0"/>
              <a:t>Metodología 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ECE9E74-F607-3B87-A7D7-AC300AE65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647225"/>
              </p:ext>
            </p:extLst>
          </p:nvPr>
        </p:nvGraphicFramePr>
        <p:xfrm>
          <a:off x="886230" y="1501520"/>
          <a:ext cx="10755757" cy="3854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5981">
                  <a:extLst>
                    <a:ext uri="{9D8B030D-6E8A-4147-A177-3AD203B41FA5}">
                      <a16:colId xmlns:a16="http://schemas.microsoft.com/office/drawing/2014/main" val="2044664429"/>
                    </a:ext>
                  </a:extLst>
                </a:gridCol>
                <a:gridCol w="2852166">
                  <a:extLst>
                    <a:ext uri="{9D8B030D-6E8A-4147-A177-3AD203B41FA5}">
                      <a16:colId xmlns:a16="http://schemas.microsoft.com/office/drawing/2014/main" val="3117866248"/>
                    </a:ext>
                  </a:extLst>
                </a:gridCol>
                <a:gridCol w="4627610">
                  <a:extLst>
                    <a:ext uri="{9D8B030D-6E8A-4147-A177-3AD203B41FA5}">
                      <a16:colId xmlns:a16="http://schemas.microsoft.com/office/drawing/2014/main" val="878537352"/>
                    </a:ext>
                  </a:extLst>
                </a:gridCol>
              </a:tblGrid>
              <a:tr h="334519"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Objetivo Específico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Metodología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Resultado de la actividad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765374"/>
                  </a:ext>
                </a:extLst>
              </a:tr>
              <a:tr h="370840">
                <a:tc rowSpan="7">
                  <a:txBody>
                    <a:bodyPr/>
                    <a:lstStyle/>
                    <a:p>
                      <a:pPr algn="just"/>
                      <a:endParaRPr lang="es-419" sz="1500" dirty="0"/>
                    </a:p>
                    <a:p>
                      <a:pPr algn="just"/>
                      <a:r>
                        <a:rPr lang="es-419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ahoma" panose="020B0604030504040204" pitchFamily="34" charset="0"/>
                        </a:rPr>
                        <a:t>Determinar la descripción funcional del modelo de evaluación de la eficiencia de los paneles solares, basado en variables climatológicas, de calidad del aire e irradiancia.</a:t>
                      </a:r>
                      <a:endParaRPr lang="es-419" sz="1500" dirty="0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algn="just"/>
                      <a:r>
                        <a:rPr lang="es-419" sz="1500" dirty="0"/>
                        <a:t>En esta fase se tiene un acercamiento a los datos y por lo tanto, se determinará cual será su fuente, comportamiento y correlación para validar si su dimensionalidad es la correcta, para posteriormente evaluar el desempeño y seleccionar el algoritmo apropiado para la predicción. Por lo anterior, se utilizará una metodología estadística aplicando estadística descriptiva e inferencial.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/>
                        <a:t>Revisión continua del estado del arte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5051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/>
                        <a:t>Repositorio en </a:t>
                      </a:r>
                      <a:r>
                        <a:rPr lang="es-419" sz="1500" dirty="0" err="1"/>
                        <a:t>gitlab</a:t>
                      </a:r>
                      <a:r>
                        <a:rPr lang="es-419" sz="1500" dirty="0"/>
                        <a:t> con las </a:t>
                      </a:r>
                      <a:r>
                        <a:rPr lang="es-419" sz="1500" dirty="0" err="1"/>
                        <a:t>apis</a:t>
                      </a:r>
                      <a:r>
                        <a:rPr lang="es-419" sz="1500" dirty="0"/>
                        <a:t> a ser usadas en el trabajo y un ejemplo de los </a:t>
                      </a:r>
                      <a:r>
                        <a:rPr lang="es-419" sz="1500" dirty="0" err="1"/>
                        <a:t>payloads</a:t>
                      </a:r>
                      <a:r>
                        <a:rPr lang="es-419" sz="1500" dirty="0"/>
                        <a:t> si los usa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5075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/>
                        <a:t>Base de datos, con los datos relacionados a variables climatológicas, calidad del aire, irradiancia y potencia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4465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/>
                        <a:t>Base de datos con datos limpios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9272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/>
                        <a:t>Documento con análisis de estadística descriptiva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310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/>
                        <a:t>Documento con variables relevantes de ingreso al modelo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4522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/>
                        <a:t>Algoritmo para realizar la predicción definido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475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508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3243" y="262359"/>
            <a:ext cx="8596668" cy="1320800"/>
          </a:xfrm>
        </p:spPr>
        <p:txBody>
          <a:bodyPr/>
          <a:lstStyle/>
          <a:p>
            <a:r>
              <a:rPr lang="es-ES" dirty="0"/>
              <a:t>Metodología 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ECE9E74-F607-3B87-A7D7-AC300AE65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750131"/>
              </p:ext>
            </p:extLst>
          </p:nvPr>
        </p:nvGraphicFramePr>
        <p:xfrm>
          <a:off x="730785" y="1363240"/>
          <a:ext cx="10730429" cy="4383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302">
                  <a:extLst>
                    <a:ext uri="{9D8B030D-6E8A-4147-A177-3AD203B41FA5}">
                      <a16:colId xmlns:a16="http://schemas.microsoft.com/office/drawing/2014/main" val="2044664429"/>
                    </a:ext>
                  </a:extLst>
                </a:gridCol>
                <a:gridCol w="2666082">
                  <a:extLst>
                    <a:ext uri="{9D8B030D-6E8A-4147-A177-3AD203B41FA5}">
                      <a16:colId xmlns:a16="http://schemas.microsoft.com/office/drawing/2014/main" val="3117866248"/>
                    </a:ext>
                  </a:extLst>
                </a:gridCol>
                <a:gridCol w="5255045">
                  <a:extLst>
                    <a:ext uri="{9D8B030D-6E8A-4147-A177-3AD203B41FA5}">
                      <a16:colId xmlns:a16="http://schemas.microsoft.com/office/drawing/2014/main" val="878537352"/>
                    </a:ext>
                  </a:extLst>
                </a:gridCol>
              </a:tblGrid>
              <a:tr h="334519">
                <a:tc>
                  <a:txBody>
                    <a:bodyPr/>
                    <a:lstStyle/>
                    <a:p>
                      <a:pPr algn="ctr"/>
                      <a:r>
                        <a:rPr lang="es-419" sz="1500" dirty="0">
                          <a:latin typeface="+mj-lt"/>
                        </a:rPr>
                        <a:t>Objetivo Específico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500" dirty="0">
                          <a:latin typeface="+mj-lt"/>
                        </a:rPr>
                        <a:t>Metodología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500" dirty="0">
                          <a:latin typeface="+mj-lt"/>
                        </a:rPr>
                        <a:t>Resultado de la actividad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765374"/>
                  </a:ext>
                </a:extLst>
              </a:tr>
              <a:tr h="370840">
                <a:tc rowSpan="9"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500" dirty="0"/>
                        <a:t>Establecer la estructura del modelo de evaluación de la eficiencia de los paneles solares, basado en variables climatológicas, de calidad del aire e irradiancia.</a:t>
                      </a:r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Esta parte se centra en actividades propias de la construcción de software, por lo cual se usará metodología ágil y debido a que el investigador trabaja solo, la mas apropiada es  Kanban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Diagramas UML casos de uso, componente y secuencia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5051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Repositorio </a:t>
                      </a:r>
                      <a:r>
                        <a:rPr lang="es-419" sz="1500" dirty="0" err="1">
                          <a:latin typeface="+mj-lt"/>
                        </a:rPr>
                        <a:t>gitlab</a:t>
                      </a:r>
                      <a:r>
                        <a:rPr lang="es-419" sz="1500" dirty="0">
                          <a:latin typeface="+mj-lt"/>
                        </a:rPr>
                        <a:t> y </a:t>
                      </a:r>
                      <a:r>
                        <a:rPr lang="es-419" sz="1500" dirty="0" err="1">
                          <a:latin typeface="+mj-lt"/>
                        </a:rPr>
                        <a:t>callbacks</a:t>
                      </a:r>
                      <a:r>
                        <a:rPr lang="es-419" sz="1500" dirty="0">
                          <a:latin typeface="+mj-lt"/>
                        </a:rPr>
                        <a:t> configurados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5075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Documento con calculadora de las diferentes nubes para los componentes requeridos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4465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Recursos de nube listos para ser utilizados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9272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Servicio SAAS de mapas configurado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310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Microservicio que </a:t>
                      </a:r>
                      <a:r>
                        <a:rPr lang="es-419" sz="1500" dirty="0" err="1">
                          <a:latin typeface="+mj-lt"/>
                        </a:rPr>
                        <a:t>ingeste</a:t>
                      </a:r>
                      <a:r>
                        <a:rPr lang="es-419" sz="1500" dirty="0">
                          <a:latin typeface="+mj-lt"/>
                        </a:rPr>
                        <a:t> la información de la(s) fuente seleccionada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4522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Script de </a:t>
                      </a:r>
                      <a:r>
                        <a:rPr lang="es-419" sz="1500" dirty="0" err="1">
                          <a:latin typeface="+mj-lt"/>
                        </a:rPr>
                        <a:t>terraform</a:t>
                      </a:r>
                      <a:r>
                        <a:rPr lang="es-419" sz="1500" dirty="0">
                          <a:latin typeface="+mj-lt"/>
                        </a:rPr>
                        <a:t> para la integración continua y despliegue continuo de toda la solución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4759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Microservicio que presente en un mapa la posibilidad de colocar 4 punteros y mapas de calor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8934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 err="1">
                          <a:latin typeface="+mj-lt"/>
                        </a:rPr>
                        <a:t>Deck</a:t>
                      </a:r>
                      <a:r>
                        <a:rPr lang="es-419" sz="1500" dirty="0">
                          <a:latin typeface="+mj-lt"/>
                        </a:rPr>
                        <a:t> de pruebas de integración ejecutado exitosamente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977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359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3243" y="262359"/>
            <a:ext cx="8596668" cy="1320800"/>
          </a:xfrm>
        </p:spPr>
        <p:txBody>
          <a:bodyPr/>
          <a:lstStyle/>
          <a:p>
            <a:r>
              <a:rPr lang="es-ES" dirty="0"/>
              <a:t>Metodología 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ECE9E74-F607-3B87-A7D7-AC300AE65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135458"/>
              </p:ext>
            </p:extLst>
          </p:nvPr>
        </p:nvGraphicFramePr>
        <p:xfrm>
          <a:off x="1002535" y="2027104"/>
          <a:ext cx="10433252" cy="2711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829">
                  <a:extLst>
                    <a:ext uri="{9D8B030D-6E8A-4147-A177-3AD203B41FA5}">
                      <a16:colId xmlns:a16="http://schemas.microsoft.com/office/drawing/2014/main" val="2044664429"/>
                    </a:ext>
                  </a:extLst>
                </a:gridCol>
                <a:gridCol w="3418297">
                  <a:extLst>
                    <a:ext uri="{9D8B030D-6E8A-4147-A177-3AD203B41FA5}">
                      <a16:colId xmlns:a16="http://schemas.microsoft.com/office/drawing/2014/main" val="3117866248"/>
                    </a:ext>
                  </a:extLst>
                </a:gridCol>
                <a:gridCol w="4514126">
                  <a:extLst>
                    <a:ext uri="{9D8B030D-6E8A-4147-A177-3AD203B41FA5}">
                      <a16:colId xmlns:a16="http://schemas.microsoft.com/office/drawing/2014/main" val="878537352"/>
                    </a:ext>
                  </a:extLst>
                </a:gridCol>
              </a:tblGrid>
              <a:tr h="334519">
                <a:tc>
                  <a:txBody>
                    <a:bodyPr/>
                    <a:lstStyle/>
                    <a:p>
                      <a:pPr algn="ctr"/>
                      <a:r>
                        <a:rPr lang="es-419" sz="1500" dirty="0">
                          <a:latin typeface="+mj-lt"/>
                        </a:rPr>
                        <a:t>Objetivo Específico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500" dirty="0">
                          <a:latin typeface="+mj-lt"/>
                        </a:rPr>
                        <a:t>Metodología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500" dirty="0">
                          <a:latin typeface="+mj-lt"/>
                        </a:rPr>
                        <a:t>Resultado de la actividad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765374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5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cs typeface="Tahoma" panose="020B0604030504040204" pitchFamily="34" charset="0"/>
                        </a:rPr>
                        <a:t>Validar el modelo propuesto, mediante la comparación de datos observados versus el resultado de la predicción.</a:t>
                      </a:r>
                      <a:endParaRPr lang="es-ES" sz="1500" kern="1200" dirty="0">
                        <a:solidFill>
                          <a:schemeClr val="dk1"/>
                        </a:solidFill>
                        <a:effectLst/>
                        <a:latin typeface="+mj-lt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En la fase final, se validará el modelo desarrollado al aplicarlo a un caso de estudio real, para posteriormente: documentar exhaustivamente el proceso, los resultados y difundir los hallazgos a la comunidad científica. Es por ello que se usará una metodología cuantitativa ya que la idea es poder encontrar, para luego exponer el conocimiento encontrado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sz="1500" dirty="0">
                          <a:latin typeface="+mj-lt"/>
                        </a:rPr>
                        <a:t>Los datos observados, en el horizonte cercano estarán almacenados en la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5051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Documento con conclusiones relevantes del proyecto de investigación y sus evidencias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5075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Reporte con pruebas del caso de estudio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4465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 err="1">
                          <a:latin typeface="+mj-lt"/>
                        </a:rPr>
                        <a:t>Paper</a:t>
                      </a:r>
                      <a:r>
                        <a:rPr lang="es-419" sz="1500" dirty="0">
                          <a:latin typeface="+mj-lt"/>
                        </a:rPr>
                        <a:t> con resultados finales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9272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419" sz="1500" dirty="0">
                          <a:latin typeface="+mj-lt"/>
                        </a:rPr>
                        <a:t>Documento definitivo de la investigación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31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22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6639" y="281603"/>
            <a:ext cx="8596668" cy="1320800"/>
          </a:xfrm>
        </p:spPr>
        <p:txBody>
          <a:bodyPr/>
          <a:lstStyle/>
          <a:p>
            <a:r>
              <a:rPr lang="es-CO" dirty="0"/>
              <a:t>Presupuesto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2B47FF72-5E30-BFD2-76DE-95A0DE5FD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128701"/>
              </p:ext>
            </p:extLst>
          </p:nvPr>
        </p:nvGraphicFramePr>
        <p:xfrm>
          <a:off x="2563769" y="3520457"/>
          <a:ext cx="7064461" cy="2794734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4956465">
                  <a:extLst>
                    <a:ext uri="{9D8B030D-6E8A-4147-A177-3AD203B41FA5}">
                      <a16:colId xmlns:a16="http://schemas.microsoft.com/office/drawing/2014/main" val="3922143926"/>
                    </a:ext>
                  </a:extLst>
                </a:gridCol>
                <a:gridCol w="2107996">
                  <a:extLst>
                    <a:ext uri="{9D8B030D-6E8A-4147-A177-3AD203B41FA5}">
                      <a16:colId xmlns:a16="http://schemas.microsoft.com/office/drawing/2014/main" val="137314045"/>
                    </a:ext>
                  </a:extLst>
                </a:gridCol>
              </a:tblGrid>
              <a:tr h="283991">
                <a:tc>
                  <a:txBody>
                    <a:bodyPr/>
                    <a:lstStyle/>
                    <a:p>
                      <a:pPr algn="ctr"/>
                      <a:r>
                        <a:rPr lang="es-419" sz="1400" dirty="0"/>
                        <a:t>Descripción del Gasto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400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151385"/>
                  </a:ext>
                </a:extLst>
              </a:tr>
              <a:tr h="2902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 dirty="0">
                          <a:effectLst/>
                          <a:latin typeface="+mj-lt"/>
                          <a:ea typeface="Arial Unicode MS"/>
                          <a:cs typeface="Arial" panose="020B0604020202020204" pitchFamily="34" charset="0"/>
                        </a:rPr>
                        <a:t>Humanos</a:t>
                      </a:r>
                      <a:endParaRPr lang="es-419" sz="1400" dirty="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 dirty="0">
                          <a:effectLst/>
                          <a:latin typeface="+mj-lt"/>
                          <a:ea typeface="Arial Unicode MS"/>
                          <a:cs typeface="Arial" panose="020B0604020202020204" pitchFamily="34" charset="0"/>
                        </a:rPr>
                        <a:t>$ 160.200.000</a:t>
                      </a:r>
                      <a:endParaRPr lang="es-419" sz="1400" dirty="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extLst>
                  <a:ext uri="{0D108BD9-81ED-4DB2-BD59-A6C34878D82A}">
                    <a16:rowId xmlns:a16="http://schemas.microsoft.com/office/drawing/2014/main" val="480067102"/>
                  </a:ext>
                </a:extLst>
              </a:tr>
              <a:tr h="32914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 dirty="0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Portátil</a:t>
                      </a:r>
                      <a:endParaRPr lang="es-419" sz="1400" dirty="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     3.500.000</a:t>
                      </a:r>
                      <a:endParaRPr lang="es-419" sz="140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extLst>
                  <a:ext uri="{0D108BD9-81ED-4DB2-BD59-A6C34878D82A}">
                    <a16:rowId xmlns:a16="http://schemas.microsoft.com/office/drawing/2014/main" val="2913983569"/>
                  </a:ext>
                </a:extLst>
              </a:tr>
              <a:tr h="29745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 dirty="0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Infraestructura en AWS</a:t>
                      </a:r>
                      <a:endParaRPr lang="es-419" sz="1400" dirty="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>
                          <a:effectLst/>
                          <a:latin typeface="+mj-lt"/>
                          <a:ea typeface="Arial Unicode MS"/>
                          <a:cs typeface="Arial" panose="020B0604020202020204" pitchFamily="34" charset="0"/>
                        </a:rPr>
                        <a:t>$   10.000.000</a:t>
                      </a:r>
                      <a:endParaRPr lang="es-419" sz="140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extLst>
                  <a:ext uri="{0D108BD9-81ED-4DB2-BD59-A6C34878D82A}">
                    <a16:rowId xmlns:a16="http://schemas.microsoft.com/office/drawing/2014/main" val="2112119032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 dirty="0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Presentación articulo WEA 2024</a:t>
                      </a:r>
                      <a:endParaRPr lang="es-419" sz="1400" dirty="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>
                          <a:effectLst/>
                          <a:latin typeface="+mj-lt"/>
                          <a:ea typeface="Arial Unicode MS"/>
                          <a:cs typeface="Arial" panose="020B0604020202020204" pitchFamily="34" charset="0"/>
                        </a:rPr>
                        <a:t>$        500.000</a:t>
                      </a:r>
                      <a:endParaRPr lang="es-419" sz="140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extLst>
                  <a:ext uri="{0D108BD9-81ED-4DB2-BD59-A6C34878D82A}">
                    <a16:rowId xmlns:a16="http://schemas.microsoft.com/office/drawing/2014/main" val="2353069734"/>
                  </a:ext>
                </a:extLst>
              </a:tr>
              <a:tr h="28643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 dirty="0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Tiquetes aéreos a Barranquilla presentación artículo en WEA</a:t>
                      </a:r>
                      <a:endParaRPr lang="es-419" sz="1400" dirty="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 dirty="0">
                          <a:effectLst/>
                          <a:latin typeface="+mj-lt"/>
                          <a:ea typeface="Arial Unicode MS"/>
                          <a:cs typeface="Arial" panose="020B0604020202020204" pitchFamily="34" charset="0"/>
                        </a:rPr>
                        <a:t>$        600.000</a:t>
                      </a:r>
                      <a:endParaRPr lang="es-419" sz="1400" dirty="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extLst>
                  <a:ext uri="{0D108BD9-81ED-4DB2-BD59-A6C34878D82A}">
                    <a16:rowId xmlns:a16="http://schemas.microsoft.com/office/drawing/2014/main" val="1677663743"/>
                  </a:ext>
                </a:extLst>
              </a:tr>
              <a:tr h="28122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 dirty="0" err="1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Biáticos</a:t>
                      </a:r>
                      <a:r>
                        <a:rPr lang="es-CL" sz="1400" dirty="0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X 2 </a:t>
                      </a:r>
                      <a:r>
                        <a:rPr lang="es-CL" sz="1400" dirty="0" err="1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dias</a:t>
                      </a:r>
                      <a:r>
                        <a:rPr lang="es-CL" sz="1400" dirty="0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($200.000)</a:t>
                      </a:r>
                      <a:endParaRPr lang="es-419" sz="1400" dirty="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 dirty="0">
                          <a:effectLst/>
                          <a:latin typeface="+mj-lt"/>
                          <a:ea typeface="Arial Unicode MS"/>
                          <a:cs typeface="Arial" panose="020B0604020202020204" pitchFamily="34" charset="0"/>
                        </a:rPr>
                        <a:t>  $        400.000</a:t>
                      </a:r>
                      <a:endParaRPr lang="es-419" sz="1400" dirty="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extLst>
                  <a:ext uri="{0D108BD9-81ED-4DB2-BD59-A6C34878D82A}">
                    <a16:rowId xmlns:a16="http://schemas.microsoft.com/office/drawing/2014/main" val="1650756918"/>
                  </a:ext>
                </a:extLst>
              </a:tr>
              <a:tr h="32007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 dirty="0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Fondo de improvistos (5% del costo del proyecto)</a:t>
                      </a:r>
                      <a:endParaRPr lang="es-419" sz="1400" dirty="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s-CL" sz="1400" dirty="0">
                          <a:effectLst/>
                          <a:latin typeface="+mj-lt"/>
                          <a:ea typeface="Arial Unicode MS"/>
                          <a:cs typeface="Arial" panose="020B0604020202020204" pitchFamily="34" charset="0"/>
                        </a:rPr>
                        <a:t>$   15.000.000</a:t>
                      </a:r>
                      <a:endParaRPr lang="es-419" sz="1400" dirty="0">
                        <a:effectLst/>
                        <a:latin typeface="+mj-lt"/>
                        <a:ea typeface="Times New Roman" panose="02020603050405020304" pitchFamily="18" charset="0"/>
                        <a:cs typeface="Tahoma" panose="020B0604030504040204" pitchFamily="34" charset="0"/>
                      </a:endParaRPr>
                    </a:p>
                  </a:txBody>
                  <a:tcPr marL="10795" marR="10795" marT="10795" marB="0" anchor="ctr"/>
                </a:tc>
                <a:extLst>
                  <a:ext uri="{0D108BD9-81ED-4DB2-BD59-A6C34878D82A}">
                    <a16:rowId xmlns:a16="http://schemas.microsoft.com/office/drawing/2014/main" val="156882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$ 190.200.000</a:t>
                      </a:r>
                      <a:endParaRPr lang="es-419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5" marR="10795" marT="10795" marB="0" anchor="ctr"/>
                </a:tc>
                <a:extLst>
                  <a:ext uri="{0D108BD9-81ED-4DB2-BD59-A6C34878D82A}">
                    <a16:rowId xmlns:a16="http://schemas.microsoft.com/office/drawing/2014/main" val="2992790684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54D0638A-6D16-288D-4B36-05E9E245F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020888"/>
              </p:ext>
            </p:extLst>
          </p:nvPr>
        </p:nvGraphicFramePr>
        <p:xfrm>
          <a:off x="1950974" y="1451525"/>
          <a:ext cx="8128000" cy="137160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536205">
                  <a:extLst>
                    <a:ext uri="{9D8B030D-6E8A-4147-A177-3AD203B41FA5}">
                      <a16:colId xmlns:a16="http://schemas.microsoft.com/office/drawing/2014/main" val="4102645417"/>
                    </a:ext>
                  </a:extLst>
                </a:gridCol>
                <a:gridCol w="1527795">
                  <a:extLst>
                    <a:ext uri="{9D8B030D-6E8A-4147-A177-3AD203B41FA5}">
                      <a16:colId xmlns:a16="http://schemas.microsoft.com/office/drawing/2014/main" val="34799959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076005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58584603"/>
                    </a:ext>
                  </a:extLst>
                </a:gridCol>
              </a:tblGrid>
              <a:tr h="239311"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Integrantes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Valor </a:t>
                      </a:r>
                      <a:r>
                        <a:rPr lang="es-419" sz="1200" dirty="0" err="1"/>
                        <a:t>hr</a:t>
                      </a:r>
                      <a:endParaRPr lang="es-419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Cantidad </a:t>
                      </a:r>
                      <a:r>
                        <a:rPr lang="es-419" sz="1200" dirty="0" err="1"/>
                        <a:t>hrs</a:t>
                      </a:r>
                      <a:endParaRPr lang="es-419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Sub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43803"/>
                  </a:ext>
                </a:extLst>
              </a:tr>
              <a:tr h="262446">
                <a:tc>
                  <a:txBody>
                    <a:bodyPr/>
                    <a:lstStyle/>
                    <a:p>
                      <a:r>
                        <a:rPr lang="es-419" sz="1200" dirty="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419" sz="1200" dirty="0"/>
                        <a:t>$  250.000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419" sz="1200" dirty="0"/>
                        <a:t>$    36.000.000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820913"/>
                  </a:ext>
                </a:extLst>
              </a:tr>
              <a:tr h="263548">
                <a:tc>
                  <a:txBody>
                    <a:bodyPr/>
                    <a:lstStyle/>
                    <a:p>
                      <a:r>
                        <a:rPr lang="es-419" sz="1200" dirty="0"/>
                        <a:t>Codirector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419" sz="1200" dirty="0"/>
                        <a:t>$  250.000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419" sz="1200" dirty="0"/>
                        <a:t>$      9.000.000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098366"/>
                  </a:ext>
                </a:extLst>
              </a:tr>
              <a:tr h="265751">
                <a:tc>
                  <a:txBody>
                    <a:bodyPr/>
                    <a:lstStyle/>
                    <a:p>
                      <a:r>
                        <a:rPr lang="es-419" sz="1200" dirty="0"/>
                        <a:t>Materias 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419" sz="1200" dirty="0"/>
                        <a:t>$  150.000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200" dirty="0"/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419" sz="1200" dirty="0"/>
                        <a:t>$  115.200.000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106519"/>
                  </a:ext>
                </a:extLst>
              </a:tr>
              <a:tr h="222785"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419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$  160.200.000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020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805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337361"/>
              </p:ext>
            </p:extLst>
          </p:nvPr>
        </p:nvGraphicFramePr>
        <p:xfrm>
          <a:off x="677334" y="2013153"/>
          <a:ext cx="10313039" cy="3017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49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3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6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Resultado/Producto esperado</a:t>
                      </a:r>
                      <a:endParaRPr lang="es-CO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Indicador</a:t>
                      </a:r>
                      <a:endParaRPr lang="es-CO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Beneficiario</a:t>
                      </a:r>
                      <a:endParaRPr lang="es-CO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Modelo de evaluación de eficiencia</a:t>
                      </a:r>
                      <a:endParaRPr lang="es-CO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Artículo publicado, ponencia o evento científico</a:t>
                      </a:r>
                      <a:endParaRPr lang="es-CO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comunidad científica interesada en fuentes fotovoltaicas de generación de energía</a:t>
                      </a:r>
                      <a:endParaRPr lang="es-CO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Título Magister en Ciencias de la Información y las Comunicaciones con énfasis en Ingeniería del Software</a:t>
                      </a:r>
                      <a:endParaRPr lang="es-CO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Documento de Trabajo de grado, acta sustentación </a:t>
                      </a:r>
                      <a:endParaRPr lang="es-CO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Luis Carrillo Mejía</a:t>
                      </a:r>
                      <a:endParaRPr lang="es-CO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Artículo publicado, ponencia o evento científico.</a:t>
                      </a:r>
                      <a:endParaRPr lang="es-CO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Carta o correo de aceptación</a:t>
                      </a:r>
                      <a:endParaRPr lang="es-CO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Elvis Eduardo Gaona García</a:t>
                      </a:r>
                      <a:endParaRPr lang="es-419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GITUD</a:t>
                      </a:r>
                      <a:endParaRPr lang="es-CO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00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055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Sombrero de toga de graduación ilustración vectorial eps 10 | Vector Premium">
            <a:extLst>
              <a:ext uri="{FF2B5EF4-FFF2-40B4-BE49-F238E27FC236}">
                <a16:creationId xmlns:a16="http://schemas.microsoft.com/office/drawing/2014/main" id="{8FB6C479-3AA5-8E68-EE8E-7F1A8E9EB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5953" y="2979978"/>
            <a:ext cx="925585" cy="92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3B62AEDB-7D7D-D2F7-DE77-DD259094811F}"/>
              </a:ext>
            </a:extLst>
          </p:cNvPr>
          <p:cNvCxnSpPr>
            <a:cxnSpLocks/>
          </p:cNvCxnSpPr>
          <p:nvPr/>
        </p:nvCxnSpPr>
        <p:spPr>
          <a:xfrm>
            <a:off x="4580267" y="3415228"/>
            <a:ext cx="2542139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0C244D8-430E-2DBD-9B10-DF58DFC28894}"/>
              </a:ext>
            </a:extLst>
          </p:cNvPr>
          <p:cNvCxnSpPr>
            <a:cxnSpLocks/>
          </p:cNvCxnSpPr>
          <p:nvPr/>
        </p:nvCxnSpPr>
        <p:spPr>
          <a:xfrm flipV="1">
            <a:off x="7107674" y="3415228"/>
            <a:ext cx="1991170" cy="13772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73248E4-278F-F84B-E017-0BF44875A3A2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86002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7C92C6D-832F-F487-77C6-7F823AC4673E}"/>
              </a:ext>
            </a:extLst>
          </p:cNvPr>
          <p:cNvCxnSpPr>
            <a:cxnSpLocks/>
          </p:cNvCxnSpPr>
          <p:nvPr/>
        </p:nvCxnSpPr>
        <p:spPr>
          <a:xfrm>
            <a:off x="1961929" y="3429000"/>
            <a:ext cx="2542139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FF2FDA90-8459-FBA2-56D0-EDA24C9BEE75}"/>
              </a:ext>
            </a:extLst>
          </p:cNvPr>
          <p:cNvSpPr/>
          <p:nvPr/>
        </p:nvSpPr>
        <p:spPr>
          <a:xfrm>
            <a:off x="1768217" y="3281649"/>
            <a:ext cx="297454" cy="2947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Círculo: vacío 7">
            <a:extLst>
              <a:ext uri="{FF2B5EF4-FFF2-40B4-BE49-F238E27FC236}">
                <a16:creationId xmlns:a16="http://schemas.microsoft.com/office/drawing/2014/main" id="{51C1E582-B0C3-C774-9E88-E04437B65A69}"/>
              </a:ext>
            </a:extLst>
          </p:cNvPr>
          <p:cNvSpPr/>
          <p:nvPr/>
        </p:nvSpPr>
        <p:spPr>
          <a:xfrm>
            <a:off x="1616733" y="3128101"/>
            <a:ext cx="600420" cy="601793"/>
          </a:xfrm>
          <a:prstGeom prst="donut">
            <a:avLst>
              <a:gd name="adj" fmla="val 526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9" name="Círculo: vacío 8">
            <a:extLst>
              <a:ext uri="{FF2B5EF4-FFF2-40B4-BE49-F238E27FC236}">
                <a16:creationId xmlns:a16="http://schemas.microsoft.com/office/drawing/2014/main" id="{0A902F49-11FC-0FF8-11FB-98847C6A9D63}"/>
              </a:ext>
            </a:extLst>
          </p:cNvPr>
          <p:cNvSpPr/>
          <p:nvPr/>
        </p:nvSpPr>
        <p:spPr>
          <a:xfrm>
            <a:off x="1445056" y="2974554"/>
            <a:ext cx="914400" cy="902402"/>
          </a:xfrm>
          <a:prstGeom prst="donut">
            <a:avLst>
              <a:gd name="adj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EAF18EF-D73B-7E9E-B82E-D4C0347B7275}"/>
              </a:ext>
            </a:extLst>
          </p:cNvPr>
          <p:cNvCxnSpPr>
            <a:cxnSpLocks/>
          </p:cNvCxnSpPr>
          <p:nvPr/>
        </p:nvCxnSpPr>
        <p:spPr>
          <a:xfrm flipV="1">
            <a:off x="1860020" y="3876956"/>
            <a:ext cx="0" cy="10705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9C19CE27-117F-A1F3-D40D-5FFC17E36658}"/>
              </a:ext>
            </a:extLst>
          </p:cNvPr>
          <p:cNvSpPr/>
          <p:nvPr/>
        </p:nvSpPr>
        <p:spPr>
          <a:xfrm>
            <a:off x="4412265" y="3281649"/>
            <a:ext cx="297454" cy="2947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Círculo: vacío 21">
            <a:extLst>
              <a:ext uri="{FF2B5EF4-FFF2-40B4-BE49-F238E27FC236}">
                <a16:creationId xmlns:a16="http://schemas.microsoft.com/office/drawing/2014/main" id="{0A0564EC-3911-834F-BF0F-6A94FE4C3741}"/>
              </a:ext>
            </a:extLst>
          </p:cNvPr>
          <p:cNvSpPr/>
          <p:nvPr/>
        </p:nvSpPr>
        <p:spPr>
          <a:xfrm>
            <a:off x="4260781" y="3128101"/>
            <a:ext cx="600420" cy="601793"/>
          </a:xfrm>
          <a:prstGeom prst="donut">
            <a:avLst>
              <a:gd name="adj" fmla="val 526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23" name="Círculo: vacío 22">
            <a:extLst>
              <a:ext uri="{FF2B5EF4-FFF2-40B4-BE49-F238E27FC236}">
                <a16:creationId xmlns:a16="http://schemas.microsoft.com/office/drawing/2014/main" id="{62C4921F-8F87-D99E-5EA3-BA05CBC7F825}"/>
              </a:ext>
            </a:extLst>
          </p:cNvPr>
          <p:cNvSpPr/>
          <p:nvPr/>
        </p:nvSpPr>
        <p:spPr>
          <a:xfrm>
            <a:off x="4089104" y="2974554"/>
            <a:ext cx="914400" cy="902402"/>
          </a:xfrm>
          <a:prstGeom prst="donut">
            <a:avLst>
              <a:gd name="adj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25" name="Arco de bloque 24">
            <a:extLst>
              <a:ext uri="{FF2B5EF4-FFF2-40B4-BE49-F238E27FC236}">
                <a16:creationId xmlns:a16="http://schemas.microsoft.com/office/drawing/2014/main" id="{512D591B-0607-B49C-9ED7-5B3FF5B72872}"/>
              </a:ext>
            </a:extLst>
          </p:cNvPr>
          <p:cNvSpPr/>
          <p:nvPr/>
        </p:nvSpPr>
        <p:spPr>
          <a:xfrm>
            <a:off x="3901821" y="2820319"/>
            <a:ext cx="1266902" cy="1189819"/>
          </a:xfrm>
          <a:prstGeom prst="blockArc">
            <a:avLst>
              <a:gd name="adj1" fmla="val 10755986"/>
              <a:gd name="adj2" fmla="val 16221958"/>
              <a:gd name="adj3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5C02570-FA5B-5F56-EC76-91ED8ED6488E}"/>
              </a:ext>
            </a:extLst>
          </p:cNvPr>
          <p:cNvCxnSpPr>
            <a:cxnSpLocks/>
          </p:cNvCxnSpPr>
          <p:nvPr/>
        </p:nvCxnSpPr>
        <p:spPr>
          <a:xfrm flipV="1">
            <a:off x="4537935" y="1892941"/>
            <a:ext cx="0" cy="10705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3EED1DB2-9E8D-F703-524C-D4CA01BF8B2D}"/>
              </a:ext>
            </a:extLst>
          </p:cNvPr>
          <p:cNvSpPr/>
          <p:nvPr/>
        </p:nvSpPr>
        <p:spPr>
          <a:xfrm>
            <a:off x="7014983" y="3281649"/>
            <a:ext cx="297454" cy="2947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0" name="Círculo: vacío 29">
            <a:extLst>
              <a:ext uri="{FF2B5EF4-FFF2-40B4-BE49-F238E27FC236}">
                <a16:creationId xmlns:a16="http://schemas.microsoft.com/office/drawing/2014/main" id="{DBBC1A9B-894D-EEA4-4085-D466BCE47191}"/>
              </a:ext>
            </a:extLst>
          </p:cNvPr>
          <p:cNvSpPr/>
          <p:nvPr/>
        </p:nvSpPr>
        <p:spPr>
          <a:xfrm>
            <a:off x="6863499" y="3128101"/>
            <a:ext cx="600420" cy="601793"/>
          </a:xfrm>
          <a:prstGeom prst="donut">
            <a:avLst>
              <a:gd name="adj" fmla="val 526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31" name="Círculo: vacío 30">
            <a:extLst>
              <a:ext uri="{FF2B5EF4-FFF2-40B4-BE49-F238E27FC236}">
                <a16:creationId xmlns:a16="http://schemas.microsoft.com/office/drawing/2014/main" id="{1226C888-D7DD-CCD2-2556-8C994A383940}"/>
              </a:ext>
            </a:extLst>
          </p:cNvPr>
          <p:cNvSpPr/>
          <p:nvPr/>
        </p:nvSpPr>
        <p:spPr>
          <a:xfrm>
            <a:off x="6691822" y="2974554"/>
            <a:ext cx="914400" cy="902402"/>
          </a:xfrm>
          <a:prstGeom prst="donut">
            <a:avLst>
              <a:gd name="adj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32" name="Arco de bloque 31">
            <a:extLst>
              <a:ext uri="{FF2B5EF4-FFF2-40B4-BE49-F238E27FC236}">
                <a16:creationId xmlns:a16="http://schemas.microsoft.com/office/drawing/2014/main" id="{A4472B00-1CFA-1E85-A90F-1CD329AB701A}"/>
              </a:ext>
            </a:extLst>
          </p:cNvPr>
          <p:cNvSpPr/>
          <p:nvPr/>
        </p:nvSpPr>
        <p:spPr>
          <a:xfrm>
            <a:off x="6490784" y="2831336"/>
            <a:ext cx="1273315" cy="1222870"/>
          </a:xfrm>
          <a:prstGeom prst="blockArc">
            <a:avLst>
              <a:gd name="adj1" fmla="val 5212299"/>
              <a:gd name="adj2" fmla="val 10906162"/>
              <a:gd name="adj3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39003C50-125C-C4F7-7665-81F56430BC87}"/>
              </a:ext>
            </a:extLst>
          </p:cNvPr>
          <p:cNvCxnSpPr>
            <a:cxnSpLocks/>
          </p:cNvCxnSpPr>
          <p:nvPr/>
        </p:nvCxnSpPr>
        <p:spPr>
          <a:xfrm flipV="1">
            <a:off x="7177491" y="3873809"/>
            <a:ext cx="0" cy="10705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rco de bloque 35">
            <a:extLst>
              <a:ext uri="{FF2B5EF4-FFF2-40B4-BE49-F238E27FC236}">
                <a16:creationId xmlns:a16="http://schemas.microsoft.com/office/drawing/2014/main" id="{D6596C8A-0DF2-D226-D15D-B800B3CD189B}"/>
              </a:ext>
            </a:extLst>
          </p:cNvPr>
          <p:cNvSpPr/>
          <p:nvPr/>
        </p:nvSpPr>
        <p:spPr>
          <a:xfrm>
            <a:off x="1244906" y="2831336"/>
            <a:ext cx="1273315" cy="1222870"/>
          </a:xfrm>
          <a:prstGeom prst="blockArc">
            <a:avLst>
              <a:gd name="adj1" fmla="val 5645880"/>
              <a:gd name="adj2" fmla="val 10906162"/>
              <a:gd name="adj3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65967CD-8930-E491-4AEE-F21AA78716F6}"/>
              </a:ext>
            </a:extLst>
          </p:cNvPr>
          <p:cNvSpPr txBox="1"/>
          <p:nvPr/>
        </p:nvSpPr>
        <p:spPr>
          <a:xfrm>
            <a:off x="582970" y="5149009"/>
            <a:ext cx="61088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/>
              <a:t>Definir la descripción funcional </a:t>
            </a:r>
          </a:p>
          <a:p>
            <a:r>
              <a:rPr lang="es-419" dirty="0"/>
              <a:t>del modelo de evaluación</a:t>
            </a:r>
          </a:p>
          <a:p>
            <a:r>
              <a:rPr lang="es-419" dirty="0"/>
              <a:t>Mayo - Julio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F99B102-187E-7DCF-251A-E15FBC1ACA7A}"/>
              </a:ext>
            </a:extLst>
          </p:cNvPr>
          <p:cNvSpPr txBox="1"/>
          <p:nvPr/>
        </p:nvSpPr>
        <p:spPr>
          <a:xfrm>
            <a:off x="2989992" y="862054"/>
            <a:ext cx="61088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/>
              <a:t>Definir la estructura del modelo</a:t>
            </a:r>
          </a:p>
          <a:p>
            <a:r>
              <a:rPr lang="es-419" dirty="0"/>
              <a:t>de evaluación de la eficiencia</a:t>
            </a:r>
          </a:p>
          <a:p>
            <a:r>
              <a:rPr lang="es-419" dirty="0"/>
              <a:t>Agosto - Noviembre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E67FE2E1-E2C3-8AF8-1E7E-418C5C8BAACC}"/>
              </a:ext>
            </a:extLst>
          </p:cNvPr>
          <p:cNvSpPr txBox="1"/>
          <p:nvPr/>
        </p:nvSpPr>
        <p:spPr>
          <a:xfrm>
            <a:off x="5932583" y="5243502"/>
            <a:ext cx="34923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/>
              <a:t>Validar el modelo propuesto</a:t>
            </a:r>
          </a:p>
          <a:p>
            <a:r>
              <a:rPr lang="es-419" dirty="0"/>
              <a:t>Diciembre – Enero/25</a:t>
            </a:r>
          </a:p>
        </p:txBody>
      </p:sp>
      <p:sp>
        <p:nvSpPr>
          <p:cNvPr id="43" name="Título 1">
            <a:extLst>
              <a:ext uri="{FF2B5EF4-FFF2-40B4-BE49-F238E27FC236}">
                <a16:creationId xmlns:a16="http://schemas.microsoft.com/office/drawing/2014/main" id="{866F8A2E-C2E6-E033-20F1-69345C07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78" y="275907"/>
            <a:ext cx="10131425" cy="925585"/>
          </a:xfrm>
        </p:spPr>
        <p:txBody>
          <a:bodyPr/>
          <a:lstStyle/>
          <a:p>
            <a:r>
              <a:rPr lang="es-ES" dirty="0"/>
              <a:t>Cronograma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46169F24-EB17-D7BA-B936-A1F5EEDD30BE}"/>
              </a:ext>
            </a:extLst>
          </p:cNvPr>
          <p:cNvSpPr/>
          <p:nvPr/>
        </p:nvSpPr>
        <p:spPr>
          <a:xfrm>
            <a:off x="1777887" y="4895528"/>
            <a:ext cx="164265" cy="1524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2AC82A53-9258-4F69-1621-C445D55DE7DA}"/>
              </a:ext>
            </a:extLst>
          </p:cNvPr>
          <p:cNvSpPr/>
          <p:nvPr/>
        </p:nvSpPr>
        <p:spPr>
          <a:xfrm>
            <a:off x="4466819" y="1806617"/>
            <a:ext cx="164265" cy="1524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F46A720C-A0BB-9B93-7659-07C1108D4DEC}"/>
              </a:ext>
            </a:extLst>
          </p:cNvPr>
          <p:cNvSpPr/>
          <p:nvPr/>
        </p:nvSpPr>
        <p:spPr>
          <a:xfrm>
            <a:off x="7099828" y="4868174"/>
            <a:ext cx="164265" cy="1524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5292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7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3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6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9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2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50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8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1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400"/>
                            </p:stCondLst>
                            <p:childTnLst>
                              <p:par>
                                <p:cTn id="1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700"/>
                            </p:stCondLst>
                            <p:childTnLst>
                              <p:par>
                                <p:cTn id="1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6300"/>
                            </p:stCondLst>
                            <p:childTnLst>
                              <p:par>
                                <p:cTn id="1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600"/>
                            </p:stCondLst>
                            <p:childTnLst>
                              <p:par>
                                <p:cTn id="1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69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720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7500"/>
                            </p:stCondLst>
                            <p:childTnLst>
                              <p:par>
                                <p:cTn id="13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3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3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21" grpId="0" animBg="1"/>
      <p:bldP spid="22" grpId="0" animBg="1"/>
      <p:bldP spid="23" grpId="0" animBg="1"/>
      <p:bldP spid="25" grpId="0" animBg="1"/>
      <p:bldP spid="29" grpId="0" animBg="1"/>
      <p:bldP spid="30" grpId="0" animBg="1"/>
      <p:bldP spid="31" grpId="0" animBg="1"/>
      <p:bldP spid="32" grpId="0" animBg="1"/>
      <p:bldP spid="36" grpId="0" animBg="1"/>
      <p:bldP spid="39" grpId="0"/>
      <p:bldP spid="41" grpId="0"/>
      <p:bldP spid="42" grpId="0"/>
      <p:bldP spid="44" grpId="1" animBg="1"/>
      <p:bldP spid="45" grpId="0" animBg="1"/>
      <p:bldP spid="46" grpId="0" animBg="1"/>
    </p:bld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aceta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90C226"/>
    </a:accent1>
    <a:accent2>
      <a:srgbClr val="54A021"/>
    </a:accent2>
    <a:accent3>
      <a:srgbClr val="E6B91E"/>
    </a:accent3>
    <a:accent4>
      <a:srgbClr val="E76618"/>
    </a:accent4>
    <a:accent5>
      <a:srgbClr val="C42F1A"/>
    </a:accent5>
    <a:accent6>
      <a:srgbClr val="918655"/>
    </a:accent6>
    <a:hlink>
      <a:srgbClr val="99CA3C"/>
    </a:hlink>
    <a:folHlink>
      <a:srgbClr val="B9D18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16568</TotalTime>
  <Words>1582</Words>
  <Application>Microsoft Office PowerPoint</Application>
  <PresentationFormat>Panorámica</PresentationFormat>
  <Paragraphs>183</Paragraphs>
  <Slides>17</Slides>
  <Notes>10</Notes>
  <HiddenSlides>1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Arial</vt:lpstr>
      <vt:lpstr>Calibri</vt:lpstr>
      <vt:lpstr>Cambria Math</vt:lpstr>
      <vt:lpstr>Trebuchet MS</vt:lpstr>
      <vt:lpstr>Wingdings 3</vt:lpstr>
      <vt:lpstr>Faceta</vt:lpstr>
      <vt:lpstr>MAESTRÍA EN CIENCIAS DE LA INFORMACIÓN Y LAS COMUNICACIONES  Universidad Distrital Francisco José De Caldas Seminario de Investigación  </vt:lpstr>
      <vt:lpstr>AGENDA</vt:lpstr>
      <vt:lpstr>Presentación de PowerPoint</vt:lpstr>
      <vt:lpstr>Problema de investigación</vt:lpstr>
      <vt:lpstr>Problema de investigación</vt:lpstr>
      <vt:lpstr>Problema de investigación</vt:lpstr>
      <vt:lpstr>Objetivo General</vt:lpstr>
      <vt:lpstr>Objetivos Específicos</vt:lpstr>
      <vt:lpstr>JUSTIFICACIÓN (teórica)</vt:lpstr>
      <vt:lpstr>JUSTIFICACIÓN (metodología)</vt:lpstr>
      <vt:lpstr>JUSTIFICACIÓN (PRÁCTICA)</vt:lpstr>
      <vt:lpstr>Metodología </vt:lpstr>
      <vt:lpstr>Metodología </vt:lpstr>
      <vt:lpstr>Metodología </vt:lpstr>
      <vt:lpstr>Presupuesto</vt:lpstr>
      <vt:lpstr>Resultados</vt:lpstr>
      <vt:lpstr>Cronograma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MAESTRÍA EN CIENCIAS DE LA INFORMACIÓN Y LAS COMUNICACIONES Universidad Distrital Francisco José De Caldas SEMINARIO DE Investigación</dc:title>
  <dc:creator>Ernesto</dc:creator>
  <cp:lastModifiedBy>Luis Carrillo Mejía</cp:lastModifiedBy>
  <cp:revision>88</cp:revision>
  <dcterms:created xsi:type="dcterms:W3CDTF">2018-11-06T23:44:53Z</dcterms:created>
  <dcterms:modified xsi:type="dcterms:W3CDTF">2024-05-30T09:35:34Z</dcterms:modified>
</cp:coreProperties>
</file>